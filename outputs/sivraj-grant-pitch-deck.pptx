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1abdb92e0e49eb" /><Relationship Type="http://schemas.openxmlformats.org/officeDocument/2006/relationships/extended-properties" Target="/docProps/app.xml" Id="Rb9c554028c454a5f" /><Relationship Type="http://schemas.openxmlformats.org/officeDocument/2006/relationships/officeDocument" Target="/ppt/presentation.xml" Id="R3bc25c7610f44c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0c3c029e754cf5"/>
  </p:sldMasterIdLst>
  <p:notesMasterIdLst>
    <p:notesMasterId xmlns:r="http://schemas.openxmlformats.org/officeDocument/2006/relationships" r:id="Rf33881685a26434b"/>
  </p:notesMasterIdLst>
  <p:sldIdLst>
    <p:sldId xmlns:r="http://schemas.openxmlformats.org/officeDocument/2006/relationships" id="256" r:id="Rda2dbf1c319f48c0"/>
    <p:sldId xmlns:r="http://schemas.openxmlformats.org/officeDocument/2006/relationships" id="257" r:id="Rc54d2551b3304b77"/>
    <p:sldId xmlns:r="http://schemas.openxmlformats.org/officeDocument/2006/relationships" id="258" r:id="R4bacf41441b84d82"/>
    <p:sldId xmlns:r="http://schemas.openxmlformats.org/officeDocument/2006/relationships" id="259" r:id="R0c32a139ff90408f"/>
    <p:sldId xmlns:r="http://schemas.openxmlformats.org/officeDocument/2006/relationships" id="260" r:id="Rc8765d5cc3074df6"/>
    <p:sldId xmlns:r="http://schemas.openxmlformats.org/officeDocument/2006/relationships" id="261" r:id="R31181b2417a74e4a"/>
    <p:sldId xmlns:r="http://schemas.openxmlformats.org/officeDocument/2006/relationships" id="262" r:id="Rdb10a3b51dac4124"/>
    <p:sldId xmlns:r="http://schemas.openxmlformats.org/officeDocument/2006/relationships" id="263" r:id="Rf784ff1678ff444c"/>
    <p:sldId xmlns:r="http://schemas.openxmlformats.org/officeDocument/2006/relationships" id="264" r:id="R5ab0d3608cfe415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e77a68a0ec456d" /><Relationship Type="http://schemas.openxmlformats.org/officeDocument/2006/relationships/slideMaster" Target="/ppt/slideMasters/slideMaster1.xml" Id="Rf40c3c029e754cf5" /><Relationship Type="http://schemas.openxmlformats.org/officeDocument/2006/relationships/notesMaster" Target="/ppt/notesMasters/notesMaster1.xml" Id="Rf33881685a26434b" /><Relationship Type="http://schemas.openxmlformats.org/officeDocument/2006/relationships/presProps" Target="/ppt/presProps.xml" Id="R5b7027c96b0042df" /><Relationship Type="http://schemas.openxmlformats.org/officeDocument/2006/relationships/tableStyles" Target="/ppt/tableStyles.xml" Id="R08baf6ef9b83470a" /><Relationship Type="http://schemas.openxmlformats.org/officeDocument/2006/relationships/slide" Target="/ppt/slides/slide1.xml" Id="Rda2dbf1c319f48c0" /><Relationship Type="http://schemas.openxmlformats.org/officeDocument/2006/relationships/slide" Target="/ppt/slides/slide2.xml" Id="Rc54d2551b3304b77" /><Relationship Type="http://schemas.openxmlformats.org/officeDocument/2006/relationships/slide" Target="/ppt/slides/slide3.xml" Id="R4bacf41441b84d82" /><Relationship Type="http://schemas.openxmlformats.org/officeDocument/2006/relationships/slide" Target="/ppt/slides/slide4.xml" Id="R0c32a139ff90408f" /><Relationship Type="http://schemas.openxmlformats.org/officeDocument/2006/relationships/slide" Target="/ppt/slides/slide5.xml" Id="Rc8765d5cc3074df6" /><Relationship Type="http://schemas.openxmlformats.org/officeDocument/2006/relationships/slide" Target="/ppt/slides/slide6.xml" Id="R31181b2417a74e4a" /><Relationship Type="http://schemas.openxmlformats.org/officeDocument/2006/relationships/slide" Target="/ppt/slides/slide7.xml" Id="Rdb10a3b51dac4124" /><Relationship Type="http://schemas.openxmlformats.org/officeDocument/2006/relationships/slide" Target="/ppt/slides/slide8.xml" Id="Rf784ff1678ff444c" /><Relationship Type="http://schemas.openxmlformats.org/officeDocument/2006/relationships/slide" Target="/ppt/slides/slide9.xml" Id="R5ab0d3608cfe41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c2c03e437842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000f8b95834697" /><Relationship Type="http://schemas.openxmlformats.org/officeDocument/2006/relationships/notesMaster" Target="/ppt/notesMasters/notesMaster1.xml" Id="Rb824234585cb43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dafcc0b8284209" /><Relationship Type="http://schemas.openxmlformats.org/officeDocument/2006/relationships/notesMaster" Target="/ppt/notesMasters/notesMaster1.xml" Id="R25048143acfe43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64d0955f07496c" /><Relationship Type="http://schemas.openxmlformats.org/officeDocument/2006/relationships/notesMaster" Target="/ppt/notesMasters/notesMaster1.xml" Id="R8f2fbe32218040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f565ad30a948f6" /><Relationship Type="http://schemas.openxmlformats.org/officeDocument/2006/relationships/notesMaster" Target="/ppt/notesMasters/notesMaster1.xml" Id="R7348fd3fc3ad43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8f058e52ba4d7e" /><Relationship Type="http://schemas.openxmlformats.org/officeDocument/2006/relationships/notesMaster" Target="/ppt/notesMasters/notesMaster1.xml" Id="R685888804da74b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2ddaa011de4b11" /><Relationship Type="http://schemas.openxmlformats.org/officeDocument/2006/relationships/notesMaster" Target="/ppt/notesMasters/notesMaster1.xml" Id="Rffc3810de4c949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22d05df1a544bf" /><Relationship Type="http://schemas.openxmlformats.org/officeDocument/2006/relationships/notesMaster" Target="/ppt/notesMasters/notesMaster1.xml" Id="Ra25e15a09f1441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ebbafdbc674b6c" /><Relationship Type="http://schemas.openxmlformats.org/officeDocument/2006/relationships/notesMaster" Target="/ppt/notesMasters/notesMaster1.xml" Id="R3b7c2817ca9441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6cedf93f364459" /><Relationship Type="http://schemas.openxmlformats.org/officeDocument/2006/relationships/notesMaster" Target="/ppt/notesMasters/notesMaster1.xml" Id="Ra04d0b383f4945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44cd3818440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644ff4415b4b6e" /><Relationship Type="http://schemas.openxmlformats.org/officeDocument/2006/relationships/slideLayout" Target="/ppt/slideLayouts/slideLayout1.xml" Id="Rb2e6c514348a42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e6c514348a42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8e04956894387" /><Relationship Type="http://schemas.openxmlformats.org/officeDocument/2006/relationships/notesSlide" Target="/ppt/notesSlides/notesSlide1.xml" Id="Rf656276a159240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a8fd405f24d4a" /><Relationship Type="http://schemas.openxmlformats.org/officeDocument/2006/relationships/notesSlide" Target="/ppt/notesSlides/notesSlide2.xml" Id="R64ed18cf451344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9d775a5574ed4" /><Relationship Type="http://schemas.openxmlformats.org/officeDocument/2006/relationships/notesSlide" Target="/ppt/notesSlides/notesSlide3.xml" Id="Rf9a3f51ad9eb46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6f3f3ed914c94" /><Relationship Type="http://schemas.openxmlformats.org/officeDocument/2006/relationships/notesSlide" Target="/ppt/notesSlides/notesSlide4.xml" Id="R85a16f7b10d14b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b563a0ba74c3d" /><Relationship Type="http://schemas.openxmlformats.org/officeDocument/2006/relationships/notesSlide" Target="/ppt/notesSlides/notesSlide5.xml" Id="Rdb292ca18dac4f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dafa5ad2e4d5a" /><Relationship Type="http://schemas.openxmlformats.org/officeDocument/2006/relationships/notesSlide" Target="/ppt/notesSlides/notesSlide6.xml" Id="R0efb5db4387941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0de4e0bd94601" /><Relationship Type="http://schemas.openxmlformats.org/officeDocument/2006/relationships/notesSlide" Target="/ppt/notesSlides/notesSlide7.xml" Id="Rb9d0a1ce188542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c52dc93294233" /><Relationship Type="http://schemas.openxmlformats.org/officeDocument/2006/relationships/notesSlide" Target="/ppt/notesSlides/notesSlide8.xml" Id="Reef99877a2a941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f712fca57403e" /><Relationship Type="http://schemas.openxmlformats.org/officeDocument/2006/relationships/notesSlide" Target="/ppt/notesSlides/notesSlide9.xml" Id="Rf8f81f3ea8734e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35381E-DF77-473E-BE47-FB900FDD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01828"/>
                </a:solidFill>
              </a:defRPr>
            </a:pPr>
            <a:r>
              <a:rPr sz="4800" b="1">
                <a:solidFill>
                  <a:srgbClr val="101828"/>
                </a:solidFill>
              </a:rPr>
              <a:t>Sivraj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3A915-1D6D-43C4-9BD0-503B4C5B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01828"/>
                </a:solidFill>
              </a:defRPr>
            </a:pPr>
            <a:r>
              <a:rPr sz="2250">
                <a:solidFill>
                  <a:srgbClr val="101828"/>
                </a:solidFill>
              </a:rPr>
              <a:t>A sovereign AI Twin for persistent, private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B49C1-1902-4C33-AC2E-B05C0F5F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5"/>
                </a:solidFill>
              </a:defRPr>
            </a:pPr>
            <a:r>
              <a:rPr sz="1650">
                <a:solidFill>
                  <a:srgbClr val="5B6475"/>
                </a:solidFill>
              </a:rPr>
              <a:t>Sivraj builds and protects a user-owned memory layer that helps AI systems understand people with permission.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648EE-6920-43BE-8E7A-A959A27E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028700"/>
            <a:ext cx="3143250" cy="43053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2819E-D451-4186-B15B-E6AFEFAF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Your Twin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2E7EE-1F46-4BAB-AA70-D61B99BC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2343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3DA16-9D70-4BD7-AD92-47B26FD0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2FF"/>
                </a:solidFill>
              </a:defRPr>
            </a:pPr>
            <a:r>
              <a:rPr sz="1125" b="1">
                <a:solidFill>
                  <a:srgbClr val="EAF2FF"/>
                </a:solidFill>
              </a:rPr>
              <a:t>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180B5-3F15-4B76-9C73-9A642E47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2343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A3CA2-C8F8-438C-87EA-502FC748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2FF"/>
                </a:solidFill>
              </a:defRPr>
            </a:pPr>
            <a:r>
              <a:rPr sz="1125" b="1">
                <a:solidFill>
                  <a:srgbClr val="EAF2FF"/>
                </a:solidFill>
              </a:rPr>
              <a:t>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6375F-DEDF-4D2A-A798-3E6E4FF4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2343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C46EF-798F-4092-BA77-62B8A78C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909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2FF"/>
                </a:solidFill>
              </a:defRPr>
            </a:pPr>
            <a:r>
              <a:rPr sz="1125" b="1">
                <a:solidFill>
                  <a:srgbClr val="EAF2FF"/>
                </a:solidFill>
              </a:rPr>
              <a:t>Permissions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318E4-90D3-4E88-9CF1-5F5FADFD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48100"/>
            <a:ext cx="2343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26F5C-7CB0-4D9E-957A-23B62571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433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2FF"/>
                </a:solidFill>
              </a:defRPr>
            </a:pPr>
            <a:r>
              <a:rPr sz="1125" b="1">
                <a:solidFill>
                  <a:srgbClr val="EAF2FF"/>
                </a:solidFill>
              </a:rPr>
              <a:t>Context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66D10-7EBD-4D06-B572-AEBF61A6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00550"/>
            <a:ext cx="2343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CC723-E214-4C6C-A6C0-EDE9A51F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958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2FF"/>
                </a:solidFill>
              </a:defRPr>
            </a:pPr>
            <a:r>
              <a:rPr sz="1125" b="1">
                <a:solidFill>
                  <a:srgbClr val="EAF2FF"/>
                </a:solidFill>
              </a:rPr>
              <a:t>Synthesis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3748C-4D32-4FC9-94CC-A544F0AB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A8494"/>
                </a:solidFill>
              </a:defRPr>
            </a:pPr>
            <a:r>
              <a:rPr sz="1200">
                <a:solidFill>
                  <a:srgbClr val="7A8494"/>
                </a:solidFill>
              </a:rPr>
              <a:t>Grant pitch deck</a:t>
            </a:r>
          </a:p>
        </p:txBody>
      </p:sp>
    </p:spTree>
    <p:extLst>
      <p:ext uri="{BB962C8B-B14F-4D97-AF65-F5344CB8AC3E}">
        <p14:creationId xmlns:p14="http://schemas.microsoft.com/office/powerpoint/2010/main" val="1689530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82C654-0B18-46F8-974A-E477D456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SIVRAJ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E89ED-775F-4B7A-BB6E-F7541A02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AI is powerful, but it does not remember the human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B1B53-3DD9-4AB8-8889-010C63EE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5"/>
                </a:solidFill>
              </a:defRPr>
            </a:pPr>
            <a:r>
              <a:rPr sz="1725">
                <a:solidFill>
                  <a:srgbClr val="5B6475"/>
                </a:solidFill>
              </a:rPr>
              <a:t>Every model starts from a partial view. Useful context is scattered across apps, chats, files, repositories, calendars, and memory exports.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5B3EC-7855-4C4D-868F-03918EBF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200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85314-9110-4632-BE20-21E3ADF6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2C290-5AC6-4EDD-AA40-58ED9C8D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11D48"/>
                </a:solidFill>
              </a:defRPr>
            </a:pPr>
            <a:r>
              <a:rPr sz="1050" b="1">
                <a:solidFill>
                  <a:srgbClr val="E11D48"/>
                </a:solidFill>
              </a:rPr>
              <a:t>Fragmented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ABC28-CC59-4A5F-B05F-D5A5C10D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Context lives in silos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4EE3E-2DA1-4A25-8245-1873C4B2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5"/>
                </a:solidFill>
              </a:defRPr>
            </a:pPr>
            <a:r>
              <a:rPr sz="1200">
                <a:solidFill>
                  <a:srgbClr val="5B6475"/>
                </a:solidFill>
              </a:rPr>
              <a:t>ChatGPT, Claude, Cursor, docs, email, and repos each learn a different version of the user.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2138D-986B-4323-AF6F-EE3ECC3A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3200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78608-F384-45A7-B4AB-187D4507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F924D-7C2B-4F43-8599-B0004F5B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766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Ephemeral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F4EE9-38B9-4F4A-BD9F-6C2D6411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00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Sessions reset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03750-DF3F-4475-A977-171A7EC6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576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5"/>
                </a:solidFill>
              </a:defRPr>
            </a:pPr>
            <a:r>
              <a:rPr sz="1200">
                <a:solidFill>
                  <a:srgbClr val="5B6475"/>
                </a:solidFill>
              </a:rPr>
              <a:t>Users repeatedly re-explain goals, preferences, history, constraints, and prior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62AFA-4990-4422-9AD6-C5E23797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3200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5ACA6-D17D-4AEB-A533-A19D64C1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C1BC9-7B6F-4F0C-97F5-9B318516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Unowned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337BA5-CD76-46EC-BEF0-DECF01B3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Memory is platform-bound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89182-7A11-42D4-B3A6-6DFDE0D1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5"/>
                </a:solidFill>
              </a:defRPr>
            </a:pPr>
            <a:r>
              <a:rPr sz="1200">
                <a:solidFill>
                  <a:srgbClr val="5B6475"/>
                </a:solidFill>
              </a:rPr>
              <a:t>Personal intelligence is trapped inside vendor-specific systems without portable control.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C8FF7-B594-4EC8-9DE7-5869A101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A8494"/>
                </a:solidFill>
              </a:defRPr>
            </a:pPr>
            <a:r>
              <a:rPr sz="900">
                <a:solidFill>
                  <a:srgbClr val="7A8494"/>
                </a:solidFill>
              </a:rPr>
              <a:t>Your memory. Your intelligence. Yours.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0A3562-DE1B-4247-BF63-1E2332CA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A8494"/>
                </a:solidFill>
              </a:defRPr>
            </a:pPr>
            <a:r>
              <a:rPr sz="900">
                <a:solidFill>
                  <a:srgbClr val="7A849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4151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B09B44-7203-42F2-A4E6-9DB83117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SIVRAJ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FA769-4D16-4E17-B2D7-7BBEB581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Limitations of current AI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24E4F-877F-4DCB-B8A7-F598CB6D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88C31-7F81-4049-9DD8-E9F30644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453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Limited continuity: models rarely carry a durable understanding across tools and sessions.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43386-8BD8-455D-A0F1-FED94FAA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4A0F2-D2EB-4BF3-8856-24BED68C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453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Context-window dependence: users must paste, summarize, or re-upload history to get useful answers.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D983D-D483-4642-A4D1-8A5904C1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ADD80-51A4-4356-B008-A9F9310D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453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Weak provenance: outputs often lack source-backed memory, timestamps, and confidence.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F08C1-BBC4-4B3C-910C-1D41C25E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7B943-D961-422D-B9F1-0E382BC6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453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Blunt personalization: assistants infer preferences from recent conversation instead of a governed identity graph.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6B064-D186-41A7-87DD-0B2F8A53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1B039-B199-45DD-9FA8-A84F1DD8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53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Privacy tradeoff: richer personalization often requires giving one platform more raw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853B5-BAAB-4E6B-A444-1A39D687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9EE749-8CB6-48EC-A403-A190B840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453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No shared user layer: each AI app builds its own isolated memory and permission model.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96778-8F3B-48DB-887A-36758D98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51019-9BF7-4E9C-8693-B6C902B0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9950"/>
            <a:ext cx="453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Poor correction loop: users cannot easily inspect, revise, or revoke what the model remembers.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4B9FC-64A7-4B54-943B-AADAF22F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D2160-E735-4ACC-8888-65A57C36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53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8"/>
                </a:solidFill>
              </a:defRPr>
            </a:pPr>
            <a:r>
              <a:rPr sz="1350">
                <a:solidFill>
                  <a:srgbClr val="101828"/>
                </a:solidFill>
              </a:rPr>
              <a:t>No least-privilege routing: different agents cannot receive exactly the context they need and nothing more.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2C60D-0ECB-4ADA-8825-E0A4149A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A8494"/>
                </a:solidFill>
              </a:defRPr>
            </a:pPr>
            <a:r>
              <a:rPr sz="900">
                <a:solidFill>
                  <a:srgbClr val="7A8494"/>
                </a:solidFill>
              </a:rPr>
              <a:t>Your memory. Your intelligence. Yours.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E99D6E-8D61-43FE-A041-C7D9225A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A8494"/>
                </a:solidFill>
              </a:defRPr>
            </a:pPr>
            <a:r>
              <a:rPr sz="900">
                <a:solidFill>
                  <a:srgbClr val="7A849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4458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EFD2CF-2E6E-45D0-8D47-1C87F2F6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SIVRAJ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BEBFD-42AF-4AFB-A24F-ACB94580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Sivraj creates the missing user-owned intelligence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5102B-2B02-4554-89B8-69F0CBC8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5"/>
                </a:solidFill>
              </a:defRPr>
            </a:pPr>
            <a:r>
              <a:rPr sz="1725">
                <a:solidFill>
                  <a:srgbClr val="5B6475"/>
                </a:solidFill>
              </a:rPr>
              <a:t>The Twin is a living, permissioned context layer built from the user’s memories, files, decisions, projects, preferences, and goals.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B5276-3E21-41F5-B431-37667E32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200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CB2C6-542D-449F-9CF6-5BB90BF5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0E211-E273-40B3-AA0D-8EA44803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Ingest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799AA-3665-40A4-A6B6-B046A235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Bring context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D853F-4157-4476-826D-0CD4DE24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5"/>
                </a:solidFill>
              </a:defRPr>
            </a:pPr>
            <a:r>
              <a:rPr sz="1200">
                <a:solidFill>
                  <a:srgbClr val="5B6475"/>
                </a:solidFill>
              </a:rPr>
              <a:t>Documents, chats, PDFs, GitHub, voice notes, emails, screenshots, and manual memories.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F28DA-51B1-4ACB-80F1-EB0F56D3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3200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66E72-84B2-404A-8A2B-7645499F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7A75D-C501-4DED-9134-19837A0A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Understand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57D75-2898-40A7-90E4-3A840A56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Build a cognitive 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C3E08-46DC-4C7C-B206-475A76BB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5"/>
                </a:solidFill>
              </a:defRPr>
            </a:pPr>
            <a:r>
              <a:rPr sz="1200">
                <a:solidFill>
                  <a:srgbClr val="5B6475"/>
                </a:solidFill>
              </a:rPr>
              <a:t>People, goals, projects, decisions, preferences, expertise, and recurring patterns.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3E1F2-AEDE-4AE2-897E-32E1A4BE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3200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05226-03A7-4370-8E23-ABB1843E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72675-0D56-4946-A937-06543C59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6E3E0-FBC9-4A6D-9C30-87EA96B3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052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Share with permission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240A5-C932-404D-ADDE-017E9970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624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5"/>
                </a:solidFill>
              </a:defRPr>
            </a:pPr>
            <a:r>
              <a:rPr sz="1200">
                <a:solidFill>
                  <a:srgbClr val="5B6475"/>
                </a:solidFill>
              </a:rPr>
              <a:t>Context packets give approved AI systems the right memories with citations and scope.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E146D-B257-4518-9B88-2D0B98B4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A8494"/>
                </a:solidFill>
              </a:defRPr>
            </a:pPr>
            <a:r>
              <a:rPr sz="900">
                <a:solidFill>
                  <a:srgbClr val="7A8494"/>
                </a:solidFill>
              </a:rPr>
              <a:t>Your memory. Your intelligence. Yours.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0DA6B-E3CF-4806-B3BD-12B2C287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A8494"/>
                </a:solidFill>
              </a:defRPr>
            </a:pPr>
            <a:r>
              <a:rPr sz="900">
                <a:solidFill>
                  <a:srgbClr val="7A849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6892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4B168F-A611-4223-8872-C5B55637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SIVRAJ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FC0EF-DA48-4D66-A380-9715B12E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How the system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42666-5EC4-461D-8CF1-C72D85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B9139-C0A0-4619-814A-53BDB747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D119A-C82A-489B-B128-B46B9423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475"/>
                </a:solidFill>
              </a:defRPr>
            </a:pPr>
            <a:r>
              <a:rPr sz="1125">
                <a:solidFill>
                  <a:srgbClr val="5B6475"/>
                </a:solidFill>
              </a:rPr>
              <a:t>Docs, chats, repos, voice, email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ABCBE-AD1A-4CE4-BAE4-9B4995FB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289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7690E-EA68-484B-8A9A-CEC042D8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76500"/>
            <a:ext cx="1809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CE710-35C6-45AE-AA97-FEB5CF0F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432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Encrypted 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E5C0D-5EBC-4F6A-9D42-211D6DC2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475"/>
                </a:solidFill>
              </a:defRPr>
            </a:pPr>
            <a:r>
              <a:rPr sz="1125">
                <a:solidFill>
                  <a:srgbClr val="5B6475"/>
                </a:solidFill>
              </a:rPr>
              <a:t>Raw private memory stored as ciphertext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28C0B-CF51-4CEB-AA62-893604E8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289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1C969-9F7C-43CF-912D-65120DC6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1809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32E67-F41B-4176-8588-BBACC9DF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432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Processing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34D38-DE5A-4C2A-9E72-3E6570B6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432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475"/>
                </a:solidFill>
              </a:defRPr>
            </a:pPr>
            <a:r>
              <a:rPr sz="1125">
                <a:solidFill>
                  <a:srgbClr val="5B6475"/>
                </a:solidFill>
              </a:rPr>
              <a:t>Chunks, entities, summaries, embeddings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54E90-9427-4FB9-B78B-008284A2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289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A77FC6-E983-4967-8CB4-AB4A83DC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76500"/>
            <a:ext cx="1809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7D962-45EB-410A-AB3C-43089F3A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432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Cognitive graph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DACE1-11FC-4596-A167-7AD4EBB8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475"/>
                </a:solidFill>
              </a:defRPr>
            </a:pPr>
            <a:r>
              <a:rPr sz="1125">
                <a:solidFill>
                  <a:srgbClr val="5B6475"/>
                </a:solidFill>
              </a:rPr>
              <a:t>People, goals, projects, decisions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F5358-8222-434A-BC7F-0B6000BB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4A3B8"/>
                </a:solidFill>
              </a:defRPr>
            </a:pPr>
            <a:r>
              <a:rPr sz="2100" b="1">
                <a:solidFill>
                  <a:srgbClr val="94A3B8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58074-238B-4C4D-BD84-4559C9A8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76500"/>
            <a:ext cx="1809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A899B-B764-42E6-BF1E-1A09149D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432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Context router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43E704-8E69-4D76-9E2E-2620A41C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475"/>
                </a:solidFill>
              </a:defRPr>
            </a:pPr>
            <a:r>
              <a:rPr sz="1125">
                <a:solidFill>
                  <a:srgbClr val="5B6475"/>
                </a:solidFill>
              </a:rPr>
              <a:t>Least-privilege packets for AI apps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EDAB8-6A02-4D84-A7F6-0058E03C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Output: source-backed context that can travel across models, agents, and apps without exposing unrelated private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27EDEE-18DE-49A5-A362-8F697175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A8494"/>
                </a:solidFill>
              </a:defRPr>
            </a:pPr>
            <a:r>
              <a:rPr sz="900">
                <a:solidFill>
                  <a:srgbClr val="7A8494"/>
                </a:solidFill>
              </a:rPr>
              <a:t>Your memory. Your intelligence. Yours.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037AB9-050F-41A9-956D-17FE6F08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A8494"/>
                </a:solidFill>
              </a:defRPr>
            </a:pPr>
            <a:r>
              <a:rPr sz="900">
                <a:solidFill>
                  <a:srgbClr val="7A849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46307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E75B86-C21C-42CE-B400-657FE14E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SIVRAJ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5A8D2-E69F-408B-942D-C1375D8F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First wedge: high-leverage independent operators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DDBCD-01BD-4B1C-91BF-A8A0A426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5"/>
                </a:solidFill>
              </a:defRPr>
            </a:pPr>
            <a:r>
              <a:rPr sz="1725">
                <a:solidFill>
                  <a:srgbClr val="5B6475"/>
                </a:solidFill>
              </a:rPr>
              <a:t>Consultants, founders, solo builders, researchers, creators, and expert knowledge workers gain leverage when their context compounds instead of resetting.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57B43-217D-454B-9E33-A6D5C972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10363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EE6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8B66C-BDF1-4426-AB86-32427CB0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Activation moment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40331-59C3-48E9-9D03-7AD1035B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481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The user asks a real work question and Sivraj returns a specific, source-backed insight from their own past that they forgot they knew.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07E99-4759-4996-9BB7-7A5F642A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96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5"/>
                </a:solidFill>
              </a:defRPr>
            </a:pPr>
            <a:r>
              <a:rPr sz="1350">
                <a:solidFill>
                  <a:srgbClr val="5B6475"/>
                </a:solidFill>
              </a:rPr>
              <a:t>Example: “In March 2024 you solved a similar positioning problem. Here is the framework and source document.”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50AE1-1F02-4578-83DD-D454953F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A8494"/>
                </a:solidFill>
              </a:defRPr>
            </a:pPr>
            <a:r>
              <a:rPr sz="900">
                <a:solidFill>
                  <a:srgbClr val="7A8494"/>
                </a:solidFill>
              </a:rPr>
              <a:t>Your memory. Your intelligence. Yours.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E91D3-11C4-413F-9F21-2A578AC3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A8494"/>
                </a:solidFill>
              </a:defRPr>
            </a:pPr>
            <a:r>
              <a:rPr sz="900">
                <a:solidFill>
                  <a:srgbClr val="7A849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493467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A4096D-5196-4676-9A21-C4DA76A5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SIVRAJ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00992-8CDB-4B54-A51B-2745F8A6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Real-world use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DC008-C952-45FC-97C7-AC9DBEDE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19F71-DF31-46C8-BC8E-F0A037A3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Consultant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67CB1-548D-41A8-AE4B-77D16E20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5"/>
                </a:solidFill>
              </a:defRPr>
            </a:pPr>
            <a:r>
              <a:rPr sz="1200">
                <a:solidFill>
                  <a:srgbClr val="5B6475"/>
                </a:solidFill>
              </a:rPr>
              <a:t>Recover prior proposals, frameworks, research, and client insights.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ABFA8-5526-4CD5-936D-BFC9C93D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B0F39-D5B9-4D09-A243-D93624D2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Founder 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3C361-EADD-4E64-847B-19553A42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5"/>
                </a:solidFill>
              </a:defRPr>
            </a:pPr>
            <a:r>
              <a:rPr sz="1200">
                <a:solidFill>
                  <a:srgbClr val="5B6475"/>
                </a:solidFill>
              </a:rPr>
              <a:t>Track strategy, fundraising, hiring, product decisions, and investor conversations.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9959B-155F-4149-BB01-4A272DFB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E8F8A-2E73-42E0-AED7-4A2E77EC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Coding agent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D0380-F02A-40A8-84CA-82F072E0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5"/>
                </a:solidFill>
              </a:defRPr>
            </a:pPr>
            <a:r>
              <a:rPr sz="1200">
                <a:solidFill>
                  <a:srgbClr val="5B6475"/>
                </a:solidFill>
              </a:rPr>
              <a:t>Give Codex, Cursor, or Claude project conventions, bug history, and repo memory.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F4299-BB5A-4613-AC74-F06E1920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CD3C2-7633-4A8A-8C14-827C9F7F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90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7706"/>
                </a:solidFill>
              </a:defRPr>
            </a:pPr>
            <a:r>
              <a:rPr sz="1575" b="1">
                <a:solidFill>
                  <a:srgbClr val="D97706"/>
                </a:solidFill>
              </a:rPr>
              <a:t>Research companion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C8868-6AA8-46FC-B4BF-1F2805E2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33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5"/>
                </a:solidFill>
              </a:defRPr>
            </a:pPr>
            <a:r>
              <a:rPr sz="1200">
                <a:solidFill>
                  <a:srgbClr val="5B6475"/>
                </a:solidFill>
              </a:rPr>
              <a:t>Connect notes, papers, drafts, and sources into reusable long-term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6E37F-852E-4C90-B88C-469D6C96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E1BAA-10D8-4F84-9F2D-08B72D44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11D48"/>
                </a:solidFill>
              </a:defRPr>
            </a:pPr>
            <a:r>
              <a:rPr sz="1575" b="1">
                <a:solidFill>
                  <a:srgbClr val="E11D48"/>
                </a:solidFill>
              </a:rPr>
              <a:t>Creator archive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BD12F-881D-49D5-AC79-7962D157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5"/>
                </a:solidFill>
              </a:defRPr>
            </a:pPr>
            <a:r>
              <a:rPr sz="1200">
                <a:solidFill>
                  <a:srgbClr val="5B6475"/>
                </a:solidFill>
              </a:rPr>
              <a:t>Turn scripts, posts, comments, and ideas into a searchable creative memory.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50B5E-14D2-4D65-A38A-65AA1322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4762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2E732-6DD7-4E71-AEF3-BD6F28E9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05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6B6D4"/>
                </a:solidFill>
              </a:defRPr>
            </a:pPr>
            <a:r>
              <a:rPr sz="1575" b="1">
                <a:solidFill>
                  <a:srgbClr val="06B6D4"/>
                </a:solidFill>
              </a:rPr>
              <a:t>Personal assistant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355007-C8FD-4D26-9C0F-31D0AF43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48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5"/>
                </a:solidFill>
              </a:defRPr>
            </a:pPr>
            <a:r>
              <a:rPr sz="1200">
                <a:solidFill>
                  <a:srgbClr val="5B6475"/>
                </a:solidFill>
              </a:rPr>
              <a:t>Route schedules, preferences, relationships, and goals without exposing work 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A9BEF3-C0BB-488F-92A2-3B64870B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A8494"/>
                </a:solidFill>
              </a:defRPr>
            </a:pPr>
            <a:r>
              <a:rPr sz="900">
                <a:solidFill>
                  <a:srgbClr val="7A8494"/>
                </a:solidFill>
              </a:rPr>
              <a:t>Your memory. Your intelligence. Yours.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DCD739-5217-4D24-8135-1256BA66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A8494"/>
                </a:solidFill>
              </a:defRPr>
            </a:pPr>
            <a:r>
              <a:rPr sz="900">
                <a:solidFill>
                  <a:srgbClr val="7A849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469542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3169C5-B73F-4E11-9811-86BFCE55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SIVRAJ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36837-42AC-4DBC-8A05-4183CE4A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Trust architecture: private by design, useful by permission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1F2B3-76E3-4461-B126-C6D1C7DA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47E76-A48D-4AC0-8BD0-CC5D1FCF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596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Private raw memory is encrypted before durable storage.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07549-DE84-4AF9-9B60-7DC91203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35596-A37F-46E1-82F4-22DB1810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596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Walrus-backed references support portable, durable memory storage.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73CF5-409F-43C2-A108-7358E58E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34269-CC94-419F-99D0-B2708563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596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Sui identity and Seal policy anchor user ownership and scoped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68C38-C698-4B05-B8FF-C3F59E63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0284B-B331-4D24-9F61-FA2A68F1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596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Postgres stores metadata, processing state, audit records, and graph/index records.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9CED4-860C-4A8B-BB87-9DF32908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91746-BA98-40DF-AF7D-E033737F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596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828"/>
                </a:solidFill>
              </a:defRPr>
            </a:pPr>
            <a:r>
              <a:rPr sz="1575">
                <a:solidFill>
                  <a:srgbClr val="101828"/>
                </a:solidFill>
              </a:rPr>
              <a:t>Every context packet is permission-scoped and should include citations, confidence, and expiration policy.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2A70C-E9B2-4FE2-A8C0-C7C09380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610C7-4D69-4B35-82EE-59471A43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A99A5-1E0E-42E3-8138-E1F57ACF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The Twin remembers without becoming another data silo.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50B1E-F500-4D42-8636-1BCB66C7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A8494"/>
                </a:solidFill>
              </a:defRPr>
            </a:pPr>
            <a:r>
              <a:rPr sz="900">
                <a:solidFill>
                  <a:srgbClr val="7A8494"/>
                </a:solidFill>
              </a:rPr>
              <a:t>Your memory. Your intelligence. Yours.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1AB57-36E0-4C21-862B-6F3D0FC2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A8494"/>
                </a:solidFill>
              </a:defRPr>
            </a:pPr>
            <a:r>
              <a:rPr sz="900">
                <a:solidFill>
                  <a:srgbClr val="7A849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506325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39C092-F0C9-4E64-9DC6-1CE493DE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SIVRAJ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0701B-6057-4FAE-A23D-9CB24233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Grant funding accelerates the sovereign memory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B1711-A6AB-41B8-ACB5-941B0441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5"/>
                </a:solidFill>
              </a:defRPr>
            </a:pPr>
            <a:r>
              <a:rPr sz="1725">
                <a:solidFill>
                  <a:srgbClr val="5B6475"/>
                </a:solidFill>
              </a:rPr>
              <a:t>The grant supports the path from prototype to a working, permissioned AI memory platform that users can inspect, correct, and safely connect to agents.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6C82D-DCA1-431D-9B36-608BCA07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200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BD4AC-41D9-4F1F-951B-1AAFA65B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098A2-2B0D-41A6-BBE4-925837C9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Milestone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C2B98-7755-4CD2-8F6A-A8C6B5AE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Ingestion 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6BD6D-3800-4745-A261-2E027822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5"/>
                </a:solidFill>
              </a:defRPr>
            </a:pPr>
            <a:r>
              <a:rPr sz="1200">
                <a:solidFill>
                  <a:srgbClr val="5B6475"/>
                </a:solidFill>
              </a:rPr>
              <a:t>Wallet/Twin creation, encrypted memory intake, PDF/DOCX/chat/GitHub imports.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9B188-7BEC-496E-B13B-1BD917BA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86100"/>
            <a:ext cx="3200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26C56-92DA-4119-ABE7-380FD8AE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861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A8210-A479-4F27-A2A8-6CC1FB87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Milestone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2801C-8E02-4383-8E90-513AD7BC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Cognitive graph V1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F6FA1-1181-421D-8209-3C98041E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5"/>
                </a:solidFill>
              </a:defRPr>
            </a:pPr>
            <a:r>
              <a:rPr sz="1200">
                <a:solidFill>
                  <a:srgbClr val="5B6475"/>
                </a:solidFill>
              </a:rPr>
              <a:t>Source-backed people, projects, goals, decisions, preferences, and confidence.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99D80-BC0B-40CB-BF86-24247D30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86100"/>
            <a:ext cx="3200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C2C8C-88D8-4FB9-9C43-940D5A85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861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008B3-7159-479D-80A1-320DD9A0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Milestone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B7A99-F303-4233-8FBA-ED91A08A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Context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269D0C-6BBE-4547-AA49-F54F8B35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475"/>
                </a:solidFill>
              </a:defRPr>
            </a:pPr>
            <a:r>
              <a:rPr sz="1200">
                <a:solidFill>
                  <a:srgbClr val="5B6475"/>
                </a:solidFill>
              </a:rPr>
              <a:t>Permissioned context packets for AI agents, apps, and coding workflows.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A85F9B-D197-4730-BD29-D123C3B8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530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Outcome: users own an intelligence layer that compounds across models instead of resetting with each tool.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73C17-73D9-4B37-BD69-793D4B02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A8494"/>
                </a:solidFill>
              </a:defRPr>
            </a:pPr>
            <a:r>
              <a:rPr sz="900">
                <a:solidFill>
                  <a:srgbClr val="7A8494"/>
                </a:solidFill>
              </a:rPr>
              <a:t>Your memory. Your intelligence. Yours.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68B07-E997-420F-A848-0D007269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A8494"/>
                </a:solidFill>
              </a:defRPr>
            </a:pPr>
            <a:r>
              <a:rPr sz="900">
                <a:solidFill>
                  <a:srgbClr val="7A849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00478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2026-06-21T19:44:23.1830000Z</dcterms:created>
  <dcterms:modified xsi:type="dcterms:W3CDTF">2026-06-21T19:44:23.1830000Z</dcterms:modified>
</coreProperties>
</file>